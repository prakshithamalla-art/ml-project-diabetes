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6" r:id="rId8"/>
    <p:sldId id="260" r:id="rId9"/>
    <p:sldId id="262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Machine Learning (25SC2107E)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Diabetes Risk Prediction Using Logistic Regression and Random Forest with Cross-Validation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 (Team 13, Section 5)</a:t>
            </a:r>
          </a:p>
          <a:p>
            <a:r>
              <a:rPr lang="en-US" dirty="0">
                <a:solidFill>
                  <a:srgbClr val="0070C0"/>
                </a:solidFill>
              </a:rPr>
              <a:t>Prakshitha Malla (2520030342); Datla Sri Sai Purna Mahija (2520030261)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Rani Mam, Assistant Professor, CSE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7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Predicting diabetes risk is a vital healthcare objective; this project implements a scalable, end-to-end ML pipeline on the Pima Indians Diabetes dataset (768 patient records, 8 clinical features).</a:t>
            </a:r>
          </a:p>
          <a:p>
            <a:pPr marL="342900" indent="-342900" algn="l">
              <a:lnSpc>
                <a:spcPct val="115000"/>
              </a:lnSpc>
              <a:spcAft>
                <a:spcPts val="7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Feature engineering: disguised missing values (zeros in Glucose, BMI, etc.) are imputed, attributes standardized, and PCA + K-means clustering discover latent patient risk groups as engineered features.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400" dirty="0"/>
              <a:t>Our project focuses on predicting the risk of diabetes using machine learning.</a:t>
            </a:r>
            <a:br>
              <a:rPr lang="en-IN" sz="1400" dirty="0"/>
            </a:br>
            <a:r>
              <a:rPr lang="en-IN" sz="1400" dirty="0"/>
              <a:t>We used the Pima Indians Diabetes dataset, which contains 768 patient records and 8 clinical features.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400" dirty="0"/>
              <a:t>First, we cleaned the data and handled missing values. Then we used PCA and K-means for feature engineering.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400" dirty="0"/>
              <a:t>We trained two models, Logistic Regression and Random Forest. We used cross-validation and grid search to properly tune and evaluate the models.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400" dirty="0"/>
              <a:t>Finally, Random Forest performed better than Logistic Regression, so we selected it as our final model and deployed it using </a:t>
            </a:r>
            <a:r>
              <a:rPr lang="en-IN" sz="1400" dirty="0" err="1"/>
              <a:t>FastAPI</a:t>
            </a:r>
            <a:r>
              <a:rPr lang="en-IN" sz="1400" dirty="0"/>
              <a:t>.</a:t>
            </a:r>
            <a:endParaRPr lang="en-US" sz="150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lnSpc>
                <a:spcPct val="115000"/>
              </a:lnSpc>
              <a:spcAft>
                <a:spcPts val="7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Logistic Regression (cross-entropy loss, L2-regularized) establishes a linear baseline, compared against a Random Forest classifier using bagging and feature subsampling for non-linear interactions.</a:t>
            </a:r>
          </a:p>
          <a:p>
            <a:pPr marL="342900" indent="-342900" algn="l">
              <a:lnSpc>
                <a:spcPct val="115000"/>
              </a:lnSpc>
              <a:spcAft>
                <a:spcPts val="7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Both models are tuned by grid search under stratified 5-fold cross-validation to prevent data leakage.</a:t>
            </a:r>
          </a:p>
          <a:p>
            <a:pPr marL="342900" indent="-342900" algn="l">
              <a:lnSpc>
                <a:spcPct val="115000"/>
              </a:lnSpc>
              <a:spcAft>
                <a:spcPts val="7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On the held-out test set, Random Forest reached ROC-AUC 0.815 and 74.7% accuracy, outperforming the Logistic Regression baseline (ROC-AUC 0.805, 69.5% accuracy).</a:t>
            </a:r>
          </a:p>
          <a:p>
            <a:pPr marL="342900" indent="-342900" algn="l">
              <a:lnSpc>
                <a:spcPct val="115000"/>
              </a:lnSpc>
              <a:spcAft>
                <a:spcPts val="7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The selected model is packaged with the fitted preprocessing pipeline and served via a FastAPI REST endpoint with a basic drift-monitoring hook.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Diabetes is a widespread chronic condition; early risk identification enables preventive, timely care.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This project uses the Pima Indians Diabetes dataset — 768 patients, 8 routine clinical measurements, and a binary diabetic/non-diabetic label — to build and validate a real predictive pipeline.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600" dirty="0"/>
              <a:t>Diabetes is a common chronic disease, so identifying the risk early can help with timely care and prevention.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600" dirty="0"/>
              <a:t>In our project, we used the Pima Indians Diabetes dataset. It contains 768 patients and 8 clinical measurements.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600" dirty="0"/>
              <a:t>Our machine learning system takes these medical measurements as input and predicts whether the patient is diabetic or non-diabetic.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600" dirty="0"/>
              <a:t>We compare two approaches: Logistic Regression, which is a linear model, and Random Forest, which can capture more complex relationships</a:t>
            </a:r>
            <a:endParaRPr lang="en-US" sz="170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pipeline covers every lifecycle stage: data ingestion, feature engineering, model training, evaluation, packaging, and REST-based deployment with monitoring.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Two complementary modelling paradigms are implemented and compared: a linear baseline (Logistic Regression) and a non-linear ensemble (Random Forest).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system was built and executed end-to-end (not just designed) — all metrics reported later in this deck come from an actual training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>
              <a:spcAft>
                <a:spcPts val="5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Problem Statement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Healthcare providers need a reliable, scalable way to assess a patient's diabetes risk from routine medical records — without relying on overly simplistic linear assumptions or uncontrolled model complexity.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600" dirty="0"/>
              <a:t>The main problem is that healthcare providers need a reliable way to estimate diabetes risk using routine patient information.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IN" sz="1600" dirty="0"/>
              <a:t>A very simple model may not capture complex relationships, while an overly complex model can also cause problems.</a:t>
            </a:r>
            <a:endParaRPr lang="en-US" sz="1500" dirty="0">
              <a:solidFill>
                <a:srgbClr val="000000"/>
              </a:solidFill>
              <a:latin typeface="Calibri"/>
            </a:endParaRPr>
          </a:p>
          <a:p>
            <a:pPr marL="0" indent="0" algn="l">
              <a:spcBef>
                <a:spcPts val="800"/>
              </a:spcBef>
              <a:spcAft>
                <a:spcPts val="5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Objectives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Load and clean the Pima Indians Diabetes dataset (handle disguised missing values).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Engineer features using PCA and K-means clustering to capture latent risk groups.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Train a Logistic Regression baseline using cross-entropy loss.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Train a Random Forest classifier leveraging bagging and feature subsampling.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Validate models with stratified k-fold cross-validation and grid-search tuning.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Evaluate using accuracy, precision, recall, F1, ROC-AUC, PR-AUC, and calibration.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Package and serve the selected model via a FastAPI REST endpoint with monitoring.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0" name="Step 1"/>
          <p:cNvSpPr/>
          <p:nvPr/>
        </p:nvSpPr>
        <p:spPr>
          <a:xfrm>
            <a:off x="1596000" y="1145000"/>
            <a:ext cx="9000000" cy="56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Data Ingestion — Pima Indians Diabetes dataset (768 records)</a:t>
            </a:r>
          </a:p>
        </p:txBody>
      </p:sp>
      <p:sp>
        <p:nvSpPr>
          <p:cNvPr id="11" name="Arrow 1"/>
          <p:cNvSpPr/>
          <p:nvPr/>
        </p:nvSpPr>
        <p:spPr>
          <a:xfrm>
            <a:off x="5966000" y="1785000"/>
            <a:ext cx="260000" cy="22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tep 2"/>
          <p:cNvSpPr/>
          <p:nvPr/>
        </p:nvSpPr>
        <p:spPr>
          <a:xfrm>
            <a:off x="1596000" y="2085000"/>
            <a:ext cx="9000000" cy="56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Preprocessing — Missing-value imputation, Scaling, PCA &amp; K-Means Feature Engineering</a:t>
            </a:r>
          </a:p>
        </p:txBody>
      </p:sp>
      <p:sp>
        <p:nvSpPr>
          <p:cNvPr id="13" name="Arrow 2"/>
          <p:cNvSpPr/>
          <p:nvPr/>
        </p:nvSpPr>
        <p:spPr>
          <a:xfrm>
            <a:off x="5966000" y="2725000"/>
            <a:ext cx="260000" cy="22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Step 3"/>
          <p:cNvSpPr/>
          <p:nvPr/>
        </p:nvSpPr>
        <p:spPr>
          <a:xfrm>
            <a:off x="1596000" y="3025000"/>
            <a:ext cx="9000000" cy="56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Model Training — Logistic Regression &amp; Random Forest</a:t>
            </a:r>
          </a:p>
        </p:txBody>
      </p:sp>
      <p:sp>
        <p:nvSpPr>
          <p:cNvPr id="15" name="Arrow 3"/>
          <p:cNvSpPr/>
          <p:nvPr/>
        </p:nvSpPr>
        <p:spPr>
          <a:xfrm>
            <a:off x="5966000" y="3665000"/>
            <a:ext cx="260000" cy="22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tep 4"/>
          <p:cNvSpPr/>
          <p:nvPr/>
        </p:nvSpPr>
        <p:spPr>
          <a:xfrm>
            <a:off x="1596000" y="3965000"/>
            <a:ext cx="9000000" cy="56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Stratified 5-Fold Cross-Validation &amp; Grid-Search Tuning</a:t>
            </a:r>
          </a:p>
        </p:txBody>
      </p:sp>
      <p:sp>
        <p:nvSpPr>
          <p:cNvPr id="17" name="Arrow 4"/>
          <p:cNvSpPr/>
          <p:nvPr/>
        </p:nvSpPr>
        <p:spPr>
          <a:xfrm>
            <a:off x="5966000" y="4605000"/>
            <a:ext cx="260000" cy="22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Step 5"/>
          <p:cNvSpPr/>
          <p:nvPr/>
        </p:nvSpPr>
        <p:spPr>
          <a:xfrm>
            <a:off x="1596000" y="4905000"/>
            <a:ext cx="9000000" cy="56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Evaluation — Accuracy, Precision, Recall, ROC-AUC, PR-AUC, Calibration</a:t>
            </a:r>
          </a:p>
        </p:txBody>
      </p:sp>
      <p:sp>
        <p:nvSpPr>
          <p:cNvPr id="19" name="Arrow 5"/>
          <p:cNvSpPr/>
          <p:nvPr/>
        </p:nvSpPr>
        <p:spPr>
          <a:xfrm>
            <a:off x="5966000" y="5545000"/>
            <a:ext cx="260000" cy="22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Step 6"/>
          <p:cNvSpPr/>
          <p:nvPr/>
        </p:nvSpPr>
        <p:spPr>
          <a:xfrm>
            <a:off x="1596000" y="5845000"/>
            <a:ext cx="9000000" cy="56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Model Packaging (joblib) → FastAPI Deployment &amp; Drift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>
              <a:spcAft>
                <a:spcPts val="5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Hardware Requirements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Standard workstation/laptop — Intel i5 (or equivalent), 8 GB+ RAM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GPU (optional) — not required for this dataset size; useful only for larger-scale extensions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Minimum 10 GB free disk space for datasets and model artifacts</a:t>
            </a:r>
          </a:p>
          <a:p>
            <a:pPr marL="0" indent="0" algn="l">
              <a:spcBef>
                <a:spcPts val="800"/>
              </a:spcBef>
              <a:spcAft>
                <a:spcPts val="5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Software Requirements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Python 3.x, Google Colab / Jupyter Notebook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pandas, NumPy, scikit-learn (StandardScaler, PCA, KMeans, LogisticRegression, RandomForestClassifier, GridSearchCV)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matplotlib for ROC/PR, calibration, and feature-importance plots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joblib for model + preprocessing pipeline packaging</a:t>
            </a:r>
          </a:p>
          <a:p>
            <a:pPr marL="342900" indent="-342900" algn="l">
              <a:lnSpc>
                <a:spcPct val="115000"/>
              </a:lnSpc>
              <a:spcAft>
                <a:spcPts val="45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FastAPI and Uvicorn for REST-based model serving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950"/>
              </a:spcAft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Built and executed an end-to-end diabetes risk prediction pipeline on the Pima Indians Diabetes dataset, from raw data to a served REST API.</a:t>
            </a:r>
          </a:p>
          <a:p>
            <a:pPr marL="342900" indent="-342900" algn="l">
              <a:lnSpc>
                <a:spcPct val="115000"/>
              </a:lnSpc>
              <a:spcAft>
                <a:spcPts val="950"/>
              </a:spcAft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Random Forest outperformed the Logistic Regression baseline on the held-out test set — ROC-AUC 0.815 vs 0.805, and accuracy 74.7% vs 69.5% — confirming the value of modelling non-linear feature interactions.</a:t>
            </a:r>
          </a:p>
          <a:p>
            <a:pPr marL="342900" indent="-342900" algn="l">
              <a:lnSpc>
                <a:spcPct val="115000"/>
              </a:lnSpc>
              <a:spcAft>
                <a:spcPts val="950"/>
              </a:spcAft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PCA and K-means-engineered features (pca_1, risk_cluster) ranked among the Random Forest's most important predictors, alongside Glucose and BMI.</a:t>
            </a:r>
          </a:p>
          <a:p>
            <a:pPr marL="342900" indent="-342900" algn="l">
              <a:lnSpc>
                <a:spcPct val="115000"/>
              </a:lnSpc>
              <a:spcAft>
                <a:spcPts val="950"/>
              </a:spcAft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Stratified 5-fold cross-validation with grid search ensured robust, leakage-free model selection.</a:t>
            </a:r>
          </a:p>
          <a:p>
            <a:pPr marL="342900" indent="-342900" algn="l">
              <a:lnSpc>
                <a:spcPct val="115000"/>
              </a:lnSpc>
              <a:spcAft>
                <a:spcPts val="950"/>
              </a:spcAft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The packaged model is served through a FastAPI REST endpoint with a rolling drift-monitoring check, demonstrating a production-style ML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Extend model comparisons to gradient-boosted trees (XGBoost, LightGBM) for potentially stronger performance.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Apply Bayesian hyperparameter search in place of grid search for faster, more thorough tuning.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Add automated drift detection and performance-degradation alerts to the monitoring endpoint.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Incorporate additional clinical/lifestyle features and larger, more diverse patient datasets.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Build a simple dashboard/UI for clinicians to interact with real-time risk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Metrics Summary"/>
          <p:cNvSpPr txBox="1"/>
          <p:nvPr/>
        </p:nvSpPr>
        <p:spPr>
          <a:xfrm>
            <a:off x="900000" y="900000"/>
            <a:ext cx="10392000" cy="11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/>
              </a:rPr>
              <a:t>Random Forest — Accuracy 0.747 | Precision 0.615 | Recall 0.741 | F1 0.672 | ROC-AUC 0.815 | PR-AUC 0.708</a:t>
            </a:r>
          </a:p>
          <a:p>
            <a:pPr marL="342900" indent="-34290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/>
              </a:rPr>
              <a:t>Logistic Regression — Accuracy 0.695 | Precision 0.575 | Recall 0.500 | F1 0.535 | ROC-AUC 0.805 | PR-AUC 0.658</a:t>
            </a:r>
          </a:p>
          <a:p>
            <a:pPr marL="342900" indent="-342900" algn="l">
              <a:lnSpc>
                <a:spcPct val="11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/>
              </a:rPr>
              <a:t>Metrics computed on a held-out 20% test set never seen during tuning.</a:t>
            </a:r>
          </a:p>
        </p:txBody>
      </p:sp>
      <p:pic>
        <p:nvPicPr>
          <p:cNvPr id="11" name="ROC PR Cur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2100000"/>
            <a:ext cx="6900000" cy="2822727"/>
          </a:xfrm>
          <a:prstGeom prst="rect">
            <a:avLst/>
          </a:prstGeom>
        </p:spPr>
      </p:pic>
      <p:pic>
        <p:nvPicPr>
          <p:cNvPr id="12" name="Feature Import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00" y="2100000"/>
            <a:ext cx="3350000" cy="2791666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900000" y="4982727"/>
            <a:ext cx="10392000" cy="4000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342900" indent="-342900" algn="l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/>
              </a:rPr>
              <a:t>ROC / Precision-Recall curves (left) and Random Forest feature importance (right) — pca_1 and the K-means risk_cluster feature both rank among the top predictors.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1178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     Machine Learning (25SC2107E)  Diabetes Risk Prediction Using Logistic Regression and Random Forest with Cross-Validation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prakshitha malla</cp:lastModifiedBy>
  <cp:revision>22</cp:revision>
  <dcterms:created xsi:type="dcterms:W3CDTF">2024-08-29T05:25:00Z</dcterms:created>
  <dcterms:modified xsi:type="dcterms:W3CDTF">2026-10-01T08:20:45Z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